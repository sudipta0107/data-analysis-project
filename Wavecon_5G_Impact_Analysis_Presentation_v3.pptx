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413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(₹Bn)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Before 5G</c:v>
                </c:pt>
                <c:pt idx="1">
                  <c:v>After 5G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15.9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37-4817-B150-8764A7E5F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Before / After 5G (₹Bn)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P7</c:v>
                </c:pt>
                <c:pt idx="4">
                  <c:v>P11</c:v>
                </c:pt>
                <c:pt idx="5">
                  <c:v>P12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1.5</c:v>
                </c:pt>
                <c:pt idx="2">
                  <c:v>1.3</c:v>
                </c:pt>
                <c:pt idx="3">
                  <c:v>0.58240000000000003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1F-48E3-A206-B59E3F3393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Post-5G (₹Bn)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P7</c:v>
                </c:pt>
                <c:pt idx="4">
                  <c:v>P11</c:v>
                </c:pt>
                <c:pt idx="5">
                  <c:v>P12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1.5</c:v>
                </c:pt>
                <c:pt idx="2">
                  <c:v>1.3</c:v>
                </c:pt>
                <c:pt idx="3">
                  <c:v>0.15559999999999999</c:v>
                </c:pt>
                <c:pt idx="4">
                  <c:v>1.9</c:v>
                </c:pt>
                <c:pt idx="5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1F-48E3-A206-B59E3F3393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r"/>
      <c:overlay val="1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P7 Revenue (₹M)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Before 5G</c:v>
                </c:pt>
                <c:pt idx="1">
                  <c:v>After 5G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582.4</c:v>
                </c:pt>
                <c:pt idx="1">
                  <c:v>155.6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9B-40AA-9393-DCF450A9BF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19F99-FF3A-4A3A-AA41-5F89E65117E5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EB3ED-AE9D-4C2A-9C3E-FBF15008C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61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EB3ED-AE9D-4C2A-9C3E-FBF15008CE2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656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73AB7"/>
                </a:solidFill>
              </a:defRPr>
            </a:pPr>
            <a:r>
              <a:t>WAVECON TELECOM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5G Launch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788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CE0E6"/>
                </a:solidFill>
              </a:defRPr>
            </a:pPr>
            <a:r>
              <a:t>Revenue • KPI • Plan Performance • City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5394960"/>
            <a:ext cx="389901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3CD"/>
                </a:solidFill>
              </a:defRPr>
            </a:pPr>
            <a:r>
              <a:rPr dirty="0"/>
              <a:t>Analysis period: Jan–Sep 2022  |  5G launch: May 2022</a:t>
            </a:r>
            <a:endParaRPr lang="en-US" dirty="0"/>
          </a:p>
          <a:p>
            <a:pPr>
              <a:defRPr sz="1300">
                <a:solidFill>
                  <a:srgbClr val="BEC3CD"/>
                </a:solidFill>
              </a:defRPr>
            </a:pPr>
            <a:r>
              <a:rPr lang="en-US" dirty="0"/>
              <a:t>Prepared by – Sudipta Roy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62D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0"/>
                </a:solidFill>
              </a:defRPr>
            </a:pPr>
            <a:r>
              <a:t>The 5G launch was broadly revenue-neutral, but customer mix and retention shifted materially.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Pre-5G Revenue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₹16.0 Bn</a:t>
            </a:r>
          </a:p>
          <a:p>
            <a:pPr>
              <a:defRPr sz="900" b="1">
                <a:solidFill>
                  <a:srgbClr val="673AB7"/>
                </a:solidFill>
              </a:defRPr>
            </a:pPr>
            <a:r>
              <a:t>Jan–Apr 2022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143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46120" y="123444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Post-5G Revenue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₹15.9 Bn</a:t>
            </a:r>
          </a:p>
          <a:p>
            <a:pPr>
              <a:defRPr sz="900" b="1">
                <a:solidFill>
                  <a:srgbClr val="C62828"/>
                </a:solidFill>
              </a:defRPr>
            </a:pPr>
            <a:r>
              <a:t>May–Sep 2022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234440"/>
            <a:ext cx="73152" cy="1143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Revenue Change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-0.50%</a:t>
            </a:r>
          </a:p>
          <a:p>
            <a:pPr>
              <a:defRPr sz="900" b="1">
                <a:solidFill>
                  <a:srgbClr val="C62828"/>
                </a:solidFill>
              </a:defRPr>
            </a:pPr>
            <a:r>
              <a:t>~₹18M absolute decline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34440"/>
            <a:ext cx="73152" cy="1143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41080" y="123444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ARPU Change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+11.05%</a:t>
            </a:r>
          </a:p>
          <a:p>
            <a:pPr>
              <a:defRPr sz="900" b="1">
                <a:solidFill>
                  <a:srgbClr val="2E7D32"/>
                </a:solidFill>
              </a:defRPr>
            </a:pPr>
            <a:r>
              <a:t>~₹190 → ₹211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234440"/>
            <a:ext cx="73152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2697480"/>
            <a:ext cx="2011680" cy="310896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WHAT THE DATA SAYS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Revenue remained almost flat after the launch, masking significant differences across cities and plans.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Total active users fell 8.28%, while unsubscribed users increased 23.5% — the clearest retention warning.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P1 and new 5G-oriented plans P11/P12 gained traction; P7 suffered the sharpest decline.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Growth was stronger in several Tier-2/3 markets, while Delhi, Chennai and Ahmedabad weakened.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50749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1800" b="1">
                <a:solidFill>
                  <a:srgbClr val="22262D"/>
                </a:solidFill>
              </a:defRPr>
            </a:pPr>
            <a:r>
              <a:t>Management takeaway</a:t>
            </a:r>
          </a:p>
          <a:p>
            <a:pPr>
              <a:spcAft>
                <a:spcPts val="1000"/>
              </a:spcAft>
              <a:defRPr sz="1500">
                <a:solidFill>
                  <a:srgbClr val="22262D"/>
                </a:solidFill>
              </a:defRPr>
            </a:pPr>
            <a:r>
              <a:t>• Protect the growing 5G/high-value plan base.</a:t>
            </a:r>
          </a:p>
          <a:p>
            <a:pPr>
              <a:spcAft>
                <a:spcPts val="1000"/>
              </a:spcAft>
              <a:defRPr sz="1500">
                <a:solidFill>
                  <a:srgbClr val="22262D"/>
                </a:solidFill>
              </a:defRPr>
            </a:pPr>
            <a:r>
              <a:t>• Reduce churn and migrate users from weak legacy plans.</a:t>
            </a:r>
          </a:p>
          <a:p>
            <a:pPr>
              <a:spcAft>
                <a:spcPts val="1000"/>
              </a:spcAft>
              <a:defRPr sz="1500">
                <a:solidFill>
                  <a:srgbClr val="22262D"/>
                </a:solidFill>
              </a:defRPr>
            </a:pPr>
            <a:r>
              <a:t>• Use city-level targeting instead of a one-size-fits-all rollout.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</a:defRPr>
            </a:pPr>
            <a:r>
              <a:rPr dirty="0"/>
              <a:t>Source: </a:t>
            </a:r>
            <a:r>
              <a:rPr dirty="0" err="1"/>
              <a:t>Wavecon</a:t>
            </a:r>
            <a:r>
              <a:rPr dirty="0"/>
              <a:t> PBIX dashboard; figures corroborated with public project walkthroughs.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62D"/>
                </a:solidFill>
              </a:defRPr>
            </a:pPr>
            <a:r>
              <a:t>1. Impact of the 5G Launch on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0"/>
                </a:solidFill>
              </a:defRPr>
            </a:pPr>
            <a:r>
              <a:t>Overall revenue declined only marginally, but the impact was uneven across markets.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417320"/>
          <a:ext cx="53035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63640" y="1508760"/>
            <a:ext cx="2194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Revenue Change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-0.50%</a:t>
            </a:r>
          </a:p>
          <a:p>
            <a:pPr>
              <a:defRPr sz="900" b="1">
                <a:solidFill>
                  <a:srgbClr val="C62828"/>
                </a:solidFill>
              </a:defRPr>
            </a:pPr>
            <a:r>
              <a:t>₹16.0Bn → ₹15.9Bn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508760"/>
            <a:ext cx="73152" cy="12344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41080" y="1508760"/>
            <a:ext cx="2194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Monthly Average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~₹4.0Bn</a:t>
            </a:r>
          </a:p>
          <a:p>
            <a:pPr>
              <a:defRPr sz="900" b="1">
                <a:solidFill>
                  <a:srgbClr val="673AB7"/>
                </a:solidFill>
              </a:defRPr>
            </a:pPr>
            <a:r>
              <a:t>post-launch volatility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0" y="1508760"/>
            <a:ext cx="73152" cy="12344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3063240"/>
            <a:ext cx="1554480" cy="310896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4747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The headline impact is a small revenue decline, not a collapse.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The bigger issue is mix: some cities and plans grew while others lost revenue.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Revenue dipped after launch and later stabilized toward Aug–Sep.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</a:defRPr>
            </a:pPr>
            <a:r>
              <a:t>Source: Wavecon PBIX dashboard; figures corroborated with public project walkthroughs.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62D"/>
                </a:solidFill>
              </a:defRPr>
            </a:pPr>
            <a:r>
              <a:t>2. KPI Performance After 5G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0"/>
                </a:solidFill>
              </a:defRPr>
            </a:pPr>
            <a:r>
              <a:t>Customer retention weakened even though monetization per user improved.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673A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Before 5G</a:t>
                      </a:r>
                    </a:p>
                  </a:txBody>
                  <a:tcPr>
                    <a:solidFill>
                      <a:srgbClr val="673A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After 5G</a:t>
                      </a:r>
                    </a:p>
                  </a:txBody>
                  <a:tcPr>
                    <a:solidFill>
                      <a:srgbClr val="673A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673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₹16.0 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₹15.9 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62D"/>
                          </a:solidFill>
                        </a:defRPr>
                      </a:pPr>
                      <a: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ARPU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~₹190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~₹211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62D"/>
                          </a:solidFill>
                        </a:defRPr>
                      </a:pPr>
                      <a:r>
                        <a:t>+11.05%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Total Active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84.4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77.4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62D"/>
                          </a:solidFill>
                        </a:defRPr>
                      </a:pPr>
                      <a:r>
                        <a:t>-8.28%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Unsubscribed Users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5.6 M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62D"/>
                          </a:solidFill>
                        </a:defRPr>
                      </a:pPr>
                      <a:r>
                        <a:t>7.0 M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62D"/>
                          </a:solidFill>
                        </a:defRPr>
                      </a:pPr>
                      <a:r>
                        <a:t>+23.5%</a:t>
                      </a:r>
                    </a:p>
                  </a:txBody>
                  <a:tcP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43484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Primary concern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Unsubscribed users</a:t>
            </a:r>
          </a:p>
          <a:p>
            <a:pPr>
              <a:defRPr sz="900" b="1">
                <a:solidFill>
                  <a:srgbClr val="C62828"/>
                </a:solidFill>
              </a:defRPr>
            </a:pPr>
            <a:r>
              <a:t>↑ 23.5% = churn 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434840"/>
            <a:ext cx="73152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443484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Secondary concern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Active users</a:t>
            </a:r>
          </a:p>
          <a:p>
            <a:pPr>
              <a:defRPr sz="900" b="1">
                <a:solidFill>
                  <a:srgbClr val="C62828"/>
                </a:solidFill>
              </a:defRPr>
            </a:pPr>
            <a:r>
              <a:t>↓ 8.28% = engagement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434840"/>
            <a:ext cx="73152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0" y="443484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Positive signal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ARPU</a:t>
            </a:r>
          </a:p>
          <a:p>
            <a:pPr>
              <a:defRPr sz="900" b="1">
                <a:solidFill>
                  <a:srgbClr val="2E7D32"/>
                </a:solidFill>
              </a:defRPr>
            </a:pPr>
            <a:r>
              <a:t>↑ 11.05% = better monetization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434840"/>
            <a:ext cx="731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</a:defRPr>
            </a:pPr>
            <a:r>
              <a:t>Source: Wavecon PBIX dashboard; figures corroborated with public project walkthroughs.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61003_200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62D"/>
                </a:solidFill>
              </a:defRPr>
            </a:pPr>
            <a:r>
              <a:t>3. Plan Performance After 5G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0"/>
                </a:solidFill>
              </a:defRPr>
            </a:pPr>
            <a:r>
              <a:t>Customers shifted toward higher-data, longer-validity packs — while short-validity legacy offers lost traction.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3611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200" b="1">
                <a:solidFill>
                  <a:srgbClr val="22262D"/>
                </a:solidFill>
              </a:defRPr>
            </a:pPr>
            <a:r>
              <a:t>P1 • Smart Recharge Pack</a:t>
            </a:r>
          </a:p>
          <a:p>
            <a:pPr>
              <a:defRPr sz="1000" b="1">
                <a:solidFill>
                  <a:srgbClr val="2E7D32"/>
                </a:solidFill>
              </a:defRPr>
            </a:pPr>
            <a:r>
              <a:t>2 GB/day • 90 days</a:t>
            </a:r>
          </a:p>
          <a:p>
            <a:pPr>
              <a:defRPr sz="1200" b="1">
                <a:solidFill>
                  <a:srgbClr val="22262D"/>
                </a:solidFill>
              </a:defRPr>
            </a:pPr>
            <a:r>
              <a:t>₹1.8Bn → ₹2.4Bn</a:t>
            </a:r>
          </a:p>
          <a:p>
            <a:pPr>
              <a:defRPr sz="900">
                <a:solidFill>
                  <a:srgbClr val="646970"/>
                </a:solidFill>
              </a:defRPr>
            </a:pPr>
            <a:r>
              <a:t>+33.3%  •  Strong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64008" cy="1325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0" y="1170432"/>
            <a:ext cx="3611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200" b="1">
                <a:solidFill>
                  <a:srgbClr val="22262D"/>
                </a:solidFill>
              </a:defRPr>
            </a:pPr>
            <a:r>
              <a:t>P11 • Ultra Fast Mega Pack</a:t>
            </a:r>
          </a:p>
          <a:p>
            <a:pPr>
              <a:defRPr sz="1000" b="1">
                <a:solidFill>
                  <a:srgbClr val="673AB7"/>
                </a:solidFill>
              </a:defRPr>
            </a:pPr>
            <a:r>
              <a:t>3 GB/day • 80 days</a:t>
            </a:r>
          </a:p>
          <a:p>
            <a:pPr>
              <a:defRPr sz="1200" b="1">
                <a:solidFill>
                  <a:srgbClr val="22262D"/>
                </a:solidFill>
              </a:defRPr>
            </a:pPr>
            <a:r>
              <a:t>New after 5G</a:t>
            </a:r>
          </a:p>
          <a:p>
            <a:pPr>
              <a:defRPr sz="900">
                <a:solidFill>
                  <a:srgbClr val="646970"/>
                </a:solidFill>
              </a:defRPr>
            </a:pPr>
            <a:r>
              <a:t>₹1.9Bn post-5G  •  Strong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70432"/>
            <a:ext cx="64008" cy="1325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75320" y="1170432"/>
            <a:ext cx="3611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200" b="1">
                <a:solidFill>
                  <a:srgbClr val="22262D"/>
                </a:solidFill>
              </a:defRPr>
            </a:pPr>
            <a:r>
              <a:t>P12 • Ultra Duo Data Pack</a:t>
            </a:r>
          </a:p>
          <a:p>
            <a:pPr>
              <a:defRPr sz="1000" b="1">
                <a:solidFill>
                  <a:srgbClr val="00796B"/>
                </a:solidFill>
              </a:defRPr>
            </a:pPr>
            <a:r>
              <a:t>1.8 GB/day • 55 days</a:t>
            </a:r>
          </a:p>
          <a:p>
            <a:pPr>
              <a:defRPr sz="1200" b="1">
                <a:solidFill>
                  <a:srgbClr val="22262D"/>
                </a:solidFill>
              </a:defRPr>
            </a:pPr>
            <a:r>
              <a:t>New after 5G</a:t>
            </a:r>
          </a:p>
          <a:p>
            <a:pPr>
              <a:defRPr sz="900">
                <a:solidFill>
                  <a:srgbClr val="646970"/>
                </a:solidFill>
              </a:defRPr>
            </a:pPr>
            <a:r>
              <a:t>₹1.2Bn post-5G  •  Strong adoption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170432"/>
            <a:ext cx="64008" cy="132588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743200"/>
            <a:ext cx="5486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0779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262D"/>
                </a:solidFill>
              </a:defRPr>
            </a:pPr>
            <a:r>
              <a:t>Revenue movement by key plan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13232" y="3273552"/>
          <a:ext cx="49834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99632" y="2743200"/>
            <a:ext cx="5486400" cy="3246120"/>
          </a:xfrm>
          <a:prstGeom prst="roundRect">
            <a:avLst/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90779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What changed in the plan portfolio?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383280"/>
            <a:ext cx="50292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364992"/>
            <a:ext cx="2057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4EB"/>
                </a:solidFill>
              </a:defRPr>
            </a:pPr>
            <a:r>
              <a:t>25 GB • 3G/4G combo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364992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₹582.4M → ₹155.6M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3364992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2828"/>
                </a:solidFill>
              </a:defRPr>
            </a:pPr>
            <a:r>
              <a:t>−73.3%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950208"/>
            <a:ext cx="50292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931920"/>
            <a:ext cx="2057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4EB"/>
                </a:solidFill>
              </a:defRPr>
            </a:pPr>
            <a:r>
              <a:t>1 GB/day • 1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931920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₹434.3M → ₹0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3931920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2828"/>
                </a:solidFill>
              </a:defRPr>
            </a:pPr>
            <a:r>
              <a:t>Discontinued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517136"/>
            <a:ext cx="50292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498848"/>
            <a:ext cx="2057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4EB"/>
                </a:solidFill>
              </a:defRPr>
            </a:pPr>
            <a:r>
              <a:t>₹49.5 talktime + 300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498848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₹226.8M → ₹0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4498848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2828"/>
                </a:solidFill>
              </a:defRPr>
            </a:pPr>
            <a:r>
              <a:t>Discontinued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5084064"/>
            <a:ext cx="50292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065776"/>
            <a:ext cx="2057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4EB"/>
                </a:solidFill>
              </a:defRPr>
            </a:pPr>
            <a:r>
              <a:t>6 GB/day • 3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065776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₹131.1M → ₹0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5065776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2828"/>
                </a:solidFill>
              </a:defRPr>
            </a:pPr>
            <a:r>
              <a:t>Discontinued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6108192"/>
            <a:ext cx="10835640" cy="256032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Pattern: higher daily data + longer validity = stronger post-5G revenue; very short / low-data offers lost relevance.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</a:defRPr>
            </a:pPr>
            <a:r>
              <a:t>Source: Wavecon dashboard; plan specifications and performance figures corroborated with public project walkthroughs.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62D"/>
                </a:solidFill>
              </a:defRPr>
            </a:pPr>
            <a:r>
              <a:t>4. Plan Most Affected by 5G: P7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0"/>
                </a:solidFill>
              </a:defRPr>
            </a:pPr>
            <a:r>
              <a:t>P7 experienced the clearest post-launch deterioration and should be managed through migration rather than immediate broad-based replacement.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1732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60020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tlCol="0" anchor="ctr"/>
          <a:lstStyle/>
          <a:p>
            <a:pPr algn="ctr">
              <a:defRPr sz="1000" b="1">
                <a:solidFill>
                  <a:srgbClr val="646970"/>
                </a:solidFill>
              </a:defRPr>
            </a:pPr>
            <a:r>
              <a:t>P7 Revenue</a:t>
            </a:r>
          </a:p>
          <a:p>
            <a:pPr>
              <a:defRPr sz="2200" b="1">
                <a:solidFill>
                  <a:srgbClr val="22262D"/>
                </a:solidFill>
              </a:defRPr>
            </a:pPr>
            <a:r>
              <a:t>₹582.4M → ₹155.6M</a:t>
            </a:r>
          </a:p>
          <a:p>
            <a:pPr>
              <a:defRPr sz="900" b="1">
                <a:solidFill>
                  <a:srgbClr val="C62828"/>
                </a:solidFill>
              </a:defRPr>
            </a:pPr>
            <a:r>
              <a:t>-73.28%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00200"/>
            <a:ext cx="73152" cy="12344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92240" y="3154680"/>
            <a:ext cx="1188720" cy="310896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5661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Phase down P7 gradually and migrate customers to stronger 5G-compatible plans.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Use targeted migration offers rather than an abrupt cut-off.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</a:defRPr>
            </a:pPr>
            <a:r>
              <a:t>• Track retention, revenue per migrated user and adoption of replacement plans.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</a:defRPr>
            </a:pPr>
            <a:r>
              <a:t>Source: Wavecon PBIX dashboard; figures corroborated with public project walkthroughs.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62D"/>
                </a:solidFill>
              </a:defRPr>
            </a:pPr>
            <a:r>
              <a:t>6. Plans Discontinued After 5G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0"/>
                </a:solidFill>
              </a:defRPr>
            </a:pPr>
            <a:r>
              <a:t>P8, P9 and P10 disappeared after the launch; their low revenue contribution and limited fit with 5G usage patterns explain the portfolio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201168" rtlCol="0" anchor="ctr"/>
          <a:lstStyle/>
          <a:p>
            <a:pPr algn="ctr">
              <a:defRPr sz="2500" b="1">
                <a:solidFill>
                  <a:srgbClr val="C62828"/>
                </a:solidFill>
              </a:defRPr>
            </a:pPr>
            <a:r>
              <a:t>P8</a:t>
            </a:r>
          </a:p>
          <a:p>
            <a:pPr>
              <a:spcAft>
                <a:spcPts val="1200"/>
              </a:spcAft>
              <a:defRPr sz="1400">
                <a:solidFill>
                  <a:srgbClr val="22262D"/>
                </a:solidFill>
              </a:defRPr>
            </a:pPr>
            <a:r>
              <a:t>Profile: Low-data / short-duration</a:t>
            </a:r>
          </a:p>
          <a:p>
            <a:pPr>
              <a:spcAft>
                <a:spcPts val="1200"/>
              </a:spcAft>
              <a:defRPr sz="1400">
                <a:solidFill>
                  <a:srgbClr val="22262D"/>
                </a:solidFill>
              </a:defRPr>
            </a:pPr>
            <a:r>
              <a:t>Reason: Low contribution</a:t>
            </a:r>
          </a:p>
          <a:p>
            <a:pPr>
              <a:spcAft>
                <a:spcPts val="1200"/>
              </a:spcAft>
              <a:defRPr sz="1400">
                <a:solidFill>
                  <a:srgbClr val="22262D"/>
                </a:solidFill>
              </a:defRPr>
            </a:pPr>
            <a:r>
              <a:t>Decision: Phase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201168" rtlCol="0" anchor="ctr"/>
          <a:lstStyle/>
          <a:p>
            <a:pPr algn="ctr">
              <a:defRPr sz="2500" b="1">
                <a:solidFill>
                  <a:srgbClr val="C62828"/>
                </a:solidFill>
              </a:defRPr>
            </a:pPr>
            <a:r>
              <a:t>P9</a:t>
            </a:r>
          </a:p>
          <a:p>
            <a:pPr>
              <a:spcAft>
                <a:spcPts val="1200"/>
              </a:spcAft>
              <a:defRPr sz="1400">
                <a:solidFill>
                  <a:srgbClr val="22262D"/>
                </a:solidFill>
              </a:defRPr>
            </a:pPr>
            <a:r>
              <a:t>Profile: Limited talktime + data</a:t>
            </a:r>
          </a:p>
          <a:p>
            <a:pPr>
              <a:spcAft>
                <a:spcPts val="1200"/>
              </a:spcAft>
              <a:defRPr sz="1400">
                <a:solidFill>
                  <a:srgbClr val="22262D"/>
                </a:solidFill>
              </a:defRPr>
            </a:pPr>
            <a:r>
              <a:t>Reason: Low contribution</a:t>
            </a:r>
          </a:p>
          <a:p>
            <a:pPr>
              <a:spcAft>
                <a:spcPts val="1200"/>
              </a:spcAft>
              <a:defRPr sz="1400">
                <a:solidFill>
                  <a:srgbClr val="22262D"/>
                </a:solidFill>
              </a:defRPr>
            </a:pPr>
            <a:r>
              <a:t>Decision: Phase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201168" rtlCol="0" anchor="ctr"/>
          <a:lstStyle/>
          <a:p>
            <a:pPr algn="ctr">
              <a:defRPr sz="2500" b="1">
                <a:solidFill>
                  <a:srgbClr val="C62828"/>
                </a:solidFill>
              </a:defRPr>
            </a:pPr>
            <a:r>
              <a:t>P10</a:t>
            </a:r>
          </a:p>
          <a:p>
            <a:pPr>
              <a:spcAft>
                <a:spcPts val="1200"/>
              </a:spcAft>
              <a:defRPr sz="1400">
                <a:solidFill>
                  <a:srgbClr val="22262D"/>
                </a:solidFill>
              </a:defRPr>
            </a:pPr>
            <a:r>
              <a:t>Profile: Short-duration / low-value</a:t>
            </a:r>
          </a:p>
          <a:p>
            <a:pPr>
              <a:spcAft>
                <a:spcPts val="1200"/>
              </a:spcAft>
              <a:defRPr sz="1400">
                <a:solidFill>
                  <a:srgbClr val="22262D"/>
                </a:solidFill>
              </a:defRPr>
            </a:pPr>
            <a:r>
              <a:t>Reason: Low contribution</a:t>
            </a:r>
          </a:p>
          <a:p>
            <a:pPr>
              <a:spcAft>
                <a:spcPts val="1200"/>
              </a:spcAft>
              <a:defRPr sz="1400">
                <a:solidFill>
                  <a:srgbClr val="22262D"/>
                </a:solidFill>
              </a:defRPr>
            </a:pPr>
            <a:r>
              <a:t>Decision: Phase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5349240"/>
            <a:ext cx="722376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Portfolio shift: P11, P12 and P13 were introduced to serve the post-5G customer mix.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</a:defRPr>
            </a:pPr>
            <a:r>
              <a:t>Source: Wavecon PBIX dashboard; figures corroborated with public project walkthroughs.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62D"/>
                </a:solidFill>
              </a:defRPr>
            </a:pPr>
            <a:r>
              <a:t>Recommendations &amp;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0"/>
                </a:solidFill>
              </a:defRPr>
            </a:pPr>
            <a:r>
              <a:t>Translate the dashboard findings into a focused 90-day operating agenda.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161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262D"/>
                </a:solidFill>
              </a:defRPr>
            </a:pPr>
            <a:r>
              <a:t>Protect the customer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16152"/>
            <a:ext cx="6766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62D"/>
                </a:solidFill>
              </a:defRPr>
            </a:pPr>
            <a:r>
              <a:t>Launch targeted retention/win-back offers where unsubscribes are rising; monitor active-user recovery.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68880"/>
            <a:ext cx="502920" cy="50292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505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262D"/>
                </a:solidFill>
              </a:defRPr>
            </a:pPr>
            <a:r>
              <a:t>Scale winning plans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50592"/>
            <a:ext cx="6766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62D"/>
                </a:solidFill>
              </a:defRPr>
            </a:pPr>
            <a:r>
              <a:t>Prioritize P1 and new 5G plans; strengthen high-value data and OTT bundles.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685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262D"/>
                </a:solidFill>
              </a:defRPr>
            </a:pPr>
            <a:r>
              <a:t>Migrate weak 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85032"/>
            <a:ext cx="6766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62D"/>
                </a:solidFill>
              </a:defRPr>
            </a:pPr>
            <a:r>
              <a:t>Phase down P7 and legacy low-value plans with migration incentives to stronger 5G propositions.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9194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262D"/>
                </a:solidFill>
              </a:defRPr>
            </a:pPr>
            <a:r>
              <a:t>Differentiate by 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919472"/>
            <a:ext cx="6766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62D"/>
                </a:solidFill>
              </a:defRPr>
            </a:pPr>
            <a:r>
              <a:t>Defend Delhi/Chennai/Ahmedabad with localized pricing/value offers; invest in high-growth cities such as Lucknow/Gurgaon/Patna.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81360" cy="502920"/>
          </a:xfrm>
          <a:prstGeom prst="roundRect">
            <a:avLst/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North-star: improve retention + shift customers into higher-value 5G propositions while protecting city-level growth.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</a:defRPr>
            </a:pPr>
            <a:r>
              <a:t>Source: Wavecon PBIX dashboard; figures corroborated with public project walkthroughs.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2262D"/>
                </a:solidFill>
              </a:defRPr>
            </a:pPr>
            <a:r>
              <a:t>Appendix: Analysis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0"/>
                </a:solidFill>
              </a:defRPr>
            </a:pPr>
            <a:r>
              <a:t>How the dashboard comparison was interpreted.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</a:defRPr>
            </a:pPr>
            <a:r>
              <a:rPr dirty="0"/>
              <a:t>• Comparison window: Jan–Apr 2022 (pre-5G) vs May–Sep 2022 (post-5G).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</a:defRPr>
            </a:pPr>
            <a:r>
              <a:rPr dirty="0"/>
              <a:t>• Core KPIs: Revenue, ARPU, Total Active Users (TAU), and Total Unsubscribed Users (</a:t>
            </a:r>
            <a:r>
              <a:rPr dirty="0" err="1"/>
              <a:t>TUsU</a:t>
            </a:r>
            <a:r>
              <a:rPr dirty="0"/>
              <a:t>).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</a:defRPr>
            </a:pPr>
            <a:r>
              <a:rPr dirty="0"/>
              <a:t>• Plan analysis: compare pre/post revenue by plan and identify plans introduced or discontinued after launch.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</a:defRPr>
            </a:pPr>
            <a:r>
              <a:rPr dirty="0"/>
              <a:t>• City analysis: compare revenue change percentage by city to identify growth and decline pockets.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</a:defRPr>
            </a:pPr>
            <a:r>
              <a:rPr dirty="0"/>
              <a:t>• Interpretation principle: distinguish overall KPI movement from localized effects; a positive ARPU change can coexist with higher churn and weaker active-user counts.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</a:defRPr>
            </a:pPr>
            <a:r>
              <a:rPr dirty="0"/>
              <a:t>• The city chart highlights the verified movements most useful for the story rather than implying that unlisted cities had zero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</a:defRPr>
            </a:pPr>
            <a:r>
              <a:t>Source: Wavecon PBIX dashboard; figures corroborated with public project walkthroughs.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1091</Words>
  <Application>Microsoft Office PowerPoint</Application>
  <PresentationFormat>Widescreen</PresentationFormat>
  <Paragraphs>162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Sudipta Roy</cp:lastModifiedBy>
  <cp:revision>3</cp:revision>
  <dcterms:created xsi:type="dcterms:W3CDTF">2013-01-27T09:14:16Z</dcterms:created>
  <dcterms:modified xsi:type="dcterms:W3CDTF">2026-10-03T17:35:53Z</dcterms:modified>
  <cp:category/>
</cp:coreProperties>
</file>